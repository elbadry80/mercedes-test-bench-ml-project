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276" y="-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de-DE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RMSE</c:v>
          </c:tx>
          <c:spPr>
            <a:solidFill>
              <a:srgbClr val="1F5A94"/>
            </a:solidFill>
          </c:spPr>
          <c:invertIfNegative val="1"/>
          <c:dLbls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Mean baseline</c:v>
                </c:pt>
                <c:pt idx="1">
                  <c:v>Random Forest</c:v>
                </c:pt>
                <c:pt idx="2">
                  <c:v>Ridge</c:v>
                </c:pt>
                <c:pt idx="3">
                  <c:v>Gradient Boosting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12.476000000000001</c:v>
                </c:pt>
                <c:pt idx="1">
                  <c:v>9.173</c:v>
                </c:pt>
                <c:pt idx="2">
                  <c:v>8.3140000000000001</c:v>
                </c:pt>
                <c:pt idx="3">
                  <c:v>8.0519999999999996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1232896"/>
        <c:axId val="131234432"/>
      </c:barChart>
      <c:catAx>
        <c:axId val="131232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de-DE"/>
          </a:p>
        </c:txPr>
        <c:crossAx val="131234432"/>
        <c:crosses val="autoZero"/>
        <c:auto val="1"/>
        <c:lblAlgn val="ctr"/>
        <c:lblOffset val="100"/>
        <c:noMultiLvlLbl val="1"/>
      </c:catAx>
      <c:valAx>
        <c:axId val="1312344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1232896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RMSE</c:v>
          </c:tx>
          <c:spPr>
            <a:solidFill>
              <a:srgbClr val="2F9EB3"/>
            </a:solidFill>
          </c:spPr>
          <c:invertIfNegative val="1"/>
          <c:dLbls>
            <c:txPr>
              <a:bodyPr anchorCtr="1"/>
              <a:lstStyle/>
              <a:p>
                <a:pPr>
                  <a:defRPr>
                    <a:latin typeface="Bitstream Charter"/>
                    <a:ea typeface="Bitstream Charter"/>
                    <a:cs typeface="Bitstream Charter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10.683</c:v>
                </c:pt>
                <c:pt idx="1">
                  <c:v>8.2509999999999994</c:v>
                </c:pt>
                <c:pt idx="2">
                  <c:v>7.4420000000000002</c:v>
                </c:pt>
                <c:pt idx="3">
                  <c:v>7.9980000000000002</c:v>
                </c:pt>
                <c:pt idx="4">
                  <c:v>8.1690000000000005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1283584"/>
        <c:axId val="131293568"/>
      </c:barChart>
      <c:catAx>
        <c:axId val="131283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  <a:endParaRPr lang="de-DE"/>
          </a:p>
        </c:txPr>
        <c:crossAx val="131293568"/>
        <c:crosses val="autoZero"/>
        <c:auto val="1"/>
        <c:lblAlgn val="ctr"/>
        <c:lblOffset val="100"/>
        <c:noMultiLvlLbl val="1"/>
      </c:catAx>
      <c:valAx>
        <c:axId val="131293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1283584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197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and the central question: Can vehicle configuration data help predict test-bench time? Source: Mercedes-Benz Greener Manufacturing Kaggle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business claim cautious. The model predicts duration; operational savings would need validation with process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Training data originally contained 378 columns including y. ID and y were excluded from the features, leaving 376 before removing 12 constant columns. The Kaggle test set has the same 377 input columns including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same cleaned train-validation split was used to compare all models. Pipelines apply preprocessing consistently and reduce data leakage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RMSE penalises large prediction errors more strongly. Lower values are better. Gradient Boosting achieved RMSE 8.052, MAE 5.302 and R² 0.584 on the held-out validation set. The RMSE reduction versus baseline is approximately 35.5%.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Five-fold results: RMSE 10.683, 8.251, 7.442, 7.998 and 8.169. Mean RMSE 8.509 with standard deviation 1.256. Mean MAE 5.357 with standard deviation 0.243. Mean R² 0.552 with standard deviation 0.081. Fold 1 suggests that some vehicle configurations remain harder to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product concept, not a deployed tool. A production version would require clear inputs, monitoring, retraining and validation with test-bench experts.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next technical milestone is hyperparameter tuning followed by error analysis. The final presentation should update the numbers if the tuned model improves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31854440-D8BC-43CA-A726-3F3DF73E845E}"/>
              </a:ext>
            </a:extLst>
          </p:cNvPr>
          <p:cNvSpPr>
            <a:spLocks noGrp="1"/>
          </p:cNvSpPr>
          <p:nvPr/>
        </p:nvSpPr>
        <p:spPr>
          <a:xfrm>
            <a:off x="809625" y="1762125"/>
            <a:ext cx="990600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Mercedes-Benz Greener Manufacturing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xmlns="" id="{575BAC73-4AF0-46F5-84D7-1F40199901BD}"/>
              </a:ext>
            </a:extLst>
          </p:cNvPr>
          <p:cNvSpPr>
            <a:spLocks noGrp="1"/>
          </p:cNvSpPr>
          <p:nvPr/>
        </p:nvSpPr>
        <p:spPr>
          <a:xfrm>
            <a:off x="809625" y="2905125"/>
            <a:ext cx="88582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0">
                <a:solidFill>
                  <a:srgbClr val="CFE7E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CFE7EF"/>
                </a:solidFill>
                <a:latin typeface="Bitstream Charter"/>
                <a:ea typeface="Bitstream Charter"/>
                <a:cs typeface="Bitstream Charter"/>
              </a:rPr>
              <a:t>Predicting vehicle test-bench time with machine learning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B38D2307-A882-4229-A697-156267D36544}"/>
              </a:ext>
            </a:extLst>
          </p:cNvPr>
          <p:cNvSpPr>
            <a:spLocks noGrp="1"/>
          </p:cNvSpPr>
          <p:nvPr/>
        </p:nvSpPr>
        <p:spPr>
          <a:xfrm>
            <a:off x="809625" y="3905250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Project status and first model results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6698FFC4-C233-4B63-BCD4-CDCEC3CB8DE4}"/>
              </a:ext>
            </a:extLst>
          </p:cNvPr>
          <p:cNvSpPr>
            <a:spLocks noGrp="1"/>
          </p:cNvSpPr>
          <p:nvPr/>
        </p:nvSpPr>
        <p:spPr>
          <a:xfrm>
            <a:off x="809625" y="514350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Mohamed Elbadry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340C3EAA-C164-4E4F-9784-E8948FA868AA}"/>
              </a:ext>
            </a:extLst>
          </p:cNvPr>
          <p:cNvSpPr>
            <a:spLocks noGrp="1"/>
          </p:cNvSpPr>
          <p:nvPr/>
        </p:nvSpPr>
        <p:spPr>
          <a:xfrm>
            <a:off x="809625" y="557212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C8D5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C8D5E1"/>
                </a:solidFill>
                <a:latin typeface="Bitstream Charter"/>
                <a:ea typeface="Bitstream Charter"/>
                <a:cs typeface="Bitstream Charter"/>
              </a:rPr>
              <a:t>Data Science &amp; AI Project</a:t>
            </a:r>
          </a:p>
        </p:txBody>
      </p:sp>
    </p:spTree>
    <p:extLst>
      <p:ext uri="{BB962C8B-B14F-4D97-AF65-F5344CB8AC3E}">
        <p14:creationId xmlns:p14="http://schemas.microsoft.com/office/powerpoint/2010/main" val="509870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CAD32FB7-F2DE-47E4-963D-63B9F699A6A0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Business problem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xmlns="" id="{BF60EB7B-AFC2-4F9B-970C-2B5654627B99}"/>
              </a:ext>
            </a:extLst>
          </p:cNvPr>
          <p:cNvSpPr>
            <a:spLocks noGrp="1"/>
          </p:cNvSpPr>
          <p:nvPr/>
        </p:nvSpPr>
        <p:spPr>
          <a:xfrm>
            <a:off x="714375" y="128587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Mercedes-Benz tests many vehicle configurations before production. The duration varies between vehicles and can create avoidable waiting time.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ED9EBFE3-114A-4EE2-835B-307A2B010B4F}"/>
              </a:ext>
            </a:extLst>
          </p:cNvPr>
          <p:cNvSpPr>
            <a:spLocks noGrp="1"/>
          </p:cNvSpPr>
          <p:nvPr/>
        </p:nvSpPr>
        <p:spPr>
          <a:xfrm>
            <a:off x="714375" y="2809875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F5A9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F5A94"/>
                </a:solidFill>
                <a:latin typeface="Bitstream Charter"/>
                <a:ea typeface="Bitstream Charter"/>
                <a:cs typeface="Bitstream Charter"/>
              </a:rPr>
              <a:t>Machine-learning task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4A2F512D-6D8A-4804-B804-4B31640182C1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48577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Predict the test-bench time y from an anonymised vehicle configuration.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2FA61C0B-98B5-4BDE-9D25-EB91BE01A4B8}"/>
              </a:ext>
            </a:extLst>
          </p:cNvPr>
          <p:cNvSpPr>
            <a:spLocks noGrp="1"/>
          </p:cNvSpPr>
          <p:nvPr/>
        </p:nvSpPr>
        <p:spPr>
          <a:xfrm>
            <a:off x="6429375" y="280987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2F7D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F7D5A"/>
                </a:solidFill>
                <a:latin typeface="Bitstream Charter"/>
                <a:ea typeface="Bitstream Charter"/>
                <a:cs typeface="Bitstream Charter"/>
              </a:rPr>
              <a:t>Potential business value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FD0F9A9B-9265-4DA0-A57C-0B495F7B8999}"/>
              </a:ext>
            </a:extLst>
          </p:cNvPr>
          <p:cNvSpPr>
            <a:spLocks noGrp="1"/>
          </p:cNvSpPr>
          <p:nvPr/>
        </p:nvSpPr>
        <p:spPr>
          <a:xfrm>
            <a:off x="6429375" y="3286125"/>
            <a:ext cx="47625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More accurate planning can help teams identify unusually long tests and allocate test capacity more efficiently.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69B74EA1-E137-4AB5-BD56-57172C6C306D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Mohamed Elbadry, Mercedes-Benz Greener Manufacturing, 2</a:t>
            </a:r>
          </a:p>
        </p:txBody>
      </p:sp>
    </p:spTree>
    <p:extLst>
      <p:ext uri="{BB962C8B-B14F-4D97-AF65-F5344CB8AC3E}">
        <p14:creationId xmlns:p14="http://schemas.microsoft.com/office/powerpoint/2010/main" val="2072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84F1B151-DD03-4740-AEC9-A31D631A9E1C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Data overview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xmlns="" id="{D725C7AD-BC6F-469C-BA1D-A4ABCDDF3CCF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1F5A9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1F5A94"/>
                </a:solidFill>
                <a:latin typeface="Bitstream Charter"/>
                <a:ea typeface="Bitstream Charter"/>
                <a:cs typeface="Bitstream Charter"/>
              </a:rPr>
              <a:t>4,209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243794B5-88BC-4449-BF3D-C5508647B1ED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training vehicles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E92A03EC-420A-4C49-8A79-EDDCE0C8A614}"/>
              </a:ext>
            </a:extLst>
          </p:cNvPr>
          <p:cNvSpPr>
            <a:spLocks noGrp="1"/>
          </p:cNvSpPr>
          <p:nvPr/>
        </p:nvSpPr>
        <p:spPr>
          <a:xfrm>
            <a:off x="4762500" y="157162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376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9C5870B2-6722-4BC1-A95A-9ED48FF42876}"/>
              </a:ext>
            </a:extLst>
          </p:cNvPr>
          <p:cNvSpPr>
            <a:spLocks noGrp="1"/>
          </p:cNvSpPr>
          <p:nvPr/>
        </p:nvSpPr>
        <p:spPr>
          <a:xfrm>
            <a:off x="4762500" y="2381250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candidate features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74AC86B4-8B4F-4A86-BF08-A2852A6AE846}"/>
              </a:ext>
            </a:extLst>
          </p:cNvPr>
          <p:cNvSpPr>
            <a:spLocks noGrp="1"/>
          </p:cNvSpPr>
          <p:nvPr/>
        </p:nvSpPr>
        <p:spPr>
          <a:xfrm>
            <a:off x="8667750" y="157162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2F7D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2F7D5A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BD471585-08BA-4EF8-B49B-98DD2C1CE99F}"/>
              </a:ext>
            </a:extLst>
          </p:cNvPr>
          <p:cNvSpPr>
            <a:spLocks noGrp="1"/>
          </p:cNvSpPr>
          <p:nvPr/>
        </p:nvSpPr>
        <p:spPr>
          <a:xfrm>
            <a:off x="8667750" y="2381250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categorical features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AB2EBB0B-8085-480E-BB17-2D35940334CE}"/>
              </a:ext>
            </a:extLst>
          </p:cNvPr>
          <p:cNvSpPr>
            <a:spLocks noGrp="1"/>
          </p:cNvSpPr>
          <p:nvPr/>
        </p:nvSpPr>
        <p:spPr>
          <a:xfrm>
            <a:off x="1143000" y="3524250"/>
            <a:ext cx="9906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7212B"/>
                </a:solidFill>
                <a:latin typeface="Bitstream Charter"/>
                <a:ea typeface="Bitstream Charter"/>
                <a:cs typeface="Bitstream Charter"/>
              </a:rPr>
              <a:t>The remaining features are mainly binary indicators. Mercedes-Benz anonymised the feature names, so their physical meaning is not available.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xmlns="" id="{A5EFFF41-841B-4392-BFDE-8567ABA7615A}"/>
              </a:ext>
            </a:extLst>
          </p:cNvPr>
          <p:cNvSpPr>
            <a:spLocks noGrp="1"/>
          </p:cNvSpPr>
          <p:nvPr/>
        </p:nvSpPr>
        <p:spPr>
          <a:xfrm>
            <a:off x="1524000" y="4857750"/>
            <a:ext cx="91440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Twelve constant columns contained no information and were removed from the modelling data.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xmlns="" id="{B053041B-E665-48AD-8BC0-72B6EDA7C029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Mohamed Elbadry, Mercedes-Benz Greener Manufacturing, 3</a:t>
            </a:r>
          </a:p>
        </p:txBody>
      </p:sp>
    </p:spTree>
    <p:extLst>
      <p:ext uri="{BB962C8B-B14F-4D97-AF65-F5344CB8AC3E}">
        <p14:creationId xmlns:p14="http://schemas.microsoft.com/office/powerpoint/2010/main" val="114598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xmlns="" id="{60C5DA24-6DC7-43EE-8D95-C73736734106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Modelling workflow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xmlns="" id="{3F7A157A-872F-457C-9DCD-E2AD48CE5E59}"/>
              </a:ext>
            </a:extLst>
          </p:cNvPr>
          <p:cNvSpPr>
            <a:spLocks noGrp="1"/>
          </p:cNvSpPr>
          <p:nvPr/>
        </p:nvSpPr>
        <p:spPr>
          <a:xfrm>
            <a:off x="1000125" y="1381125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ABB89D04-EBB1-4993-8883-B0FA83DDC14A}"/>
              </a:ext>
            </a:extLst>
          </p:cNvPr>
          <p:cNvSpPr>
            <a:spLocks noGrp="1"/>
          </p:cNvSpPr>
          <p:nvPr/>
        </p:nvSpPr>
        <p:spPr>
          <a:xfrm>
            <a:off x="2238375" y="1381125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Inspect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AF186F19-A919-4F6A-8C82-B7C9C53185F0}"/>
              </a:ext>
            </a:extLst>
          </p:cNvPr>
          <p:cNvSpPr>
            <a:spLocks noGrp="1"/>
          </p:cNvSpPr>
          <p:nvPr/>
        </p:nvSpPr>
        <p:spPr>
          <a:xfrm>
            <a:off x="4762500" y="1381125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Shapes, data types, target distribution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F33ECA70-6177-4D0C-84C0-6F31B7055571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0CF0F813-947D-42B1-A11C-CEF7E32D0574}"/>
              </a:ext>
            </a:extLst>
          </p:cNvPr>
          <p:cNvSpPr>
            <a:spLocks noGrp="1"/>
          </p:cNvSpPr>
          <p:nvPr/>
        </p:nvSpPr>
        <p:spPr>
          <a:xfrm>
            <a:off x="2238375" y="257175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Prepare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6384BA02-7941-4C76-B7AA-DDAFC0457C18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Train-validation split and preprocessing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2A38D8CD-C128-4B96-9D59-4F5D81D0351B}"/>
              </a:ext>
            </a:extLst>
          </p:cNvPr>
          <p:cNvSpPr>
            <a:spLocks noGrp="1"/>
          </p:cNvSpPr>
          <p:nvPr/>
        </p:nvSpPr>
        <p:spPr>
          <a:xfrm>
            <a:off x="1000125" y="3762375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xmlns="" id="{00DA9380-8DDA-4A34-A905-E4BBEAEC78A6}"/>
              </a:ext>
            </a:extLst>
          </p:cNvPr>
          <p:cNvSpPr>
            <a:spLocks noGrp="1"/>
          </p:cNvSpPr>
          <p:nvPr/>
        </p:nvSpPr>
        <p:spPr>
          <a:xfrm>
            <a:off x="2238375" y="3762375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Compare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xmlns="" id="{9BA88F65-EFD3-4C15-813E-D113C46BEFF3}"/>
              </a:ext>
            </a:extLst>
          </p:cNvPr>
          <p:cNvSpPr>
            <a:spLocks noGrp="1"/>
          </p:cNvSpPr>
          <p:nvPr/>
        </p:nvSpPr>
        <p:spPr>
          <a:xfrm>
            <a:off x="4762500" y="3762375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Baseline, Ridge, Random Forest, Gradient Boosting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BFE47C60-D4F2-47D6-9BC3-76A5BC3873A3}"/>
              </a:ext>
            </a:extLst>
          </p:cNvPr>
          <p:cNvSpPr>
            <a:spLocks noGrp="1"/>
          </p:cNvSpPr>
          <p:nvPr/>
        </p:nvSpPr>
        <p:spPr>
          <a:xfrm>
            <a:off x="1000125" y="4953000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xmlns="" id="{2D8B813F-B796-47A5-8057-0B6FC0E90B6D}"/>
              </a:ext>
            </a:extLst>
          </p:cNvPr>
          <p:cNvSpPr>
            <a:spLocks noGrp="1"/>
          </p:cNvSpPr>
          <p:nvPr/>
        </p:nvSpPr>
        <p:spPr>
          <a:xfrm>
            <a:off x="2238375" y="49530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Validate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xmlns="" id="{E5A5EC1E-2431-4833-A25A-343A98052D0C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6191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Five-fold cross-validation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xmlns="" id="{52ECA924-BBB9-4288-8E6E-5DD12BCF96FC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Mohamed Elbadry, Mercedes-Benz Greener Manufacturing, 4</a:t>
            </a:r>
          </a:p>
        </p:txBody>
      </p:sp>
    </p:spTree>
    <p:extLst>
      <p:ext uri="{BB962C8B-B14F-4D97-AF65-F5344CB8AC3E}">
        <p14:creationId xmlns:p14="http://schemas.microsoft.com/office/powerpoint/2010/main" val="1681110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04503C47-5D28-4039-94C0-F8DE1EE633C2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Gradient Boosting produced the lowest validation error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809625" y="1381125"/>
          <a:ext cx="71437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6356B012-C0DE-4BDA-A716-7DCA7A709AD5}"/>
              </a:ext>
            </a:extLst>
          </p:cNvPr>
          <p:cNvSpPr>
            <a:spLocks noGrp="1"/>
          </p:cNvSpPr>
          <p:nvPr/>
        </p:nvSpPr>
        <p:spPr>
          <a:xfrm>
            <a:off x="8524875" y="2000250"/>
            <a:ext cx="24765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825" b="1">
                <a:solidFill>
                  <a:srgbClr val="2F7D5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825" b="1">
                <a:solidFill>
                  <a:srgbClr val="2F7D5A"/>
                </a:solidFill>
                <a:latin typeface="Bitstream Charter"/>
                <a:ea typeface="Bitstream Charter"/>
                <a:cs typeface="Bitstream Charter"/>
              </a:rPr>
              <a:t>35.5%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B863BF8B-BEC6-4B35-A7E7-B357A8900695}"/>
              </a:ext>
            </a:extLst>
          </p:cNvPr>
          <p:cNvSpPr>
            <a:spLocks noGrp="1"/>
          </p:cNvSpPr>
          <p:nvPr/>
        </p:nvSpPr>
        <p:spPr>
          <a:xfrm>
            <a:off x="8620125" y="2857500"/>
            <a:ext cx="22860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lower RMSE than the mean baseline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F8230880-722A-466E-90E2-1C8FC26ECAF5}"/>
              </a:ext>
            </a:extLst>
          </p:cNvPr>
          <p:cNvSpPr>
            <a:spLocks noGrp="1"/>
          </p:cNvSpPr>
          <p:nvPr/>
        </p:nvSpPr>
        <p:spPr>
          <a:xfrm>
            <a:off x="8572500" y="4191000"/>
            <a:ext cx="2381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Validation MAE: 5.302</a:t>
            </a:r>
          </a:p>
          <a:p>
            <a:pPr algn="ctr">
              <a:def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Validation R²: 0.584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576662D8-A552-4101-A156-468B8CE7EB14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Mohamed Elbadry, Mercedes-Benz Greener Manufacturing, 5</a:t>
            </a:r>
          </a:p>
        </p:txBody>
      </p:sp>
    </p:spTree>
    <p:extLst>
      <p:ext uri="{BB962C8B-B14F-4D97-AF65-F5344CB8AC3E}">
        <p14:creationId xmlns:p14="http://schemas.microsoft.com/office/powerpoint/2010/main" val="184760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561EEF7E-44BE-436C-9673-0C2AFA275605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Cross-validation confirms useful performance with some variation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="762000" y="1476375"/>
          <a:ext cx="685800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AD542350-807C-40BA-9288-3348E5225E0E}"/>
              </a:ext>
            </a:extLst>
          </p:cNvPr>
          <p:cNvSpPr>
            <a:spLocks noGrp="1"/>
          </p:cNvSpPr>
          <p:nvPr/>
        </p:nvSpPr>
        <p:spPr>
          <a:xfrm>
            <a:off x="8477250" y="1619250"/>
            <a:ext cx="2381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Mean RMSE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E8F0B9A7-1487-4707-9047-E0203794447B}"/>
              </a:ext>
            </a:extLst>
          </p:cNvPr>
          <p:cNvSpPr>
            <a:spLocks noGrp="1"/>
          </p:cNvSpPr>
          <p:nvPr/>
        </p:nvSpPr>
        <p:spPr>
          <a:xfrm>
            <a:off x="8477250" y="2000250"/>
            <a:ext cx="2381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675" b="1">
                <a:solidFill>
                  <a:srgbClr val="1F5A9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75" b="1">
                <a:solidFill>
                  <a:srgbClr val="1F5A94"/>
                </a:solidFill>
                <a:latin typeface="Bitstream Charter"/>
                <a:ea typeface="Bitstream Charter"/>
                <a:cs typeface="Bitstream Charter"/>
              </a:rPr>
              <a:t>8.509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495EA6F2-FCF5-4649-B828-D7F011B3673B}"/>
              </a:ext>
            </a:extLst>
          </p:cNvPr>
          <p:cNvSpPr>
            <a:spLocks noGrp="1"/>
          </p:cNvSpPr>
          <p:nvPr/>
        </p:nvSpPr>
        <p:spPr>
          <a:xfrm>
            <a:off x="8477250" y="3286125"/>
            <a:ext cx="2381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Mean MAE  5.357</a:t>
            </a:r>
          </a:p>
          <a:p>
            <a:pPr algn="ctr">
              <a:def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Mean R²  0.552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DABF6B4F-FA6D-4BA6-93DD-C940AED3A4D3}"/>
              </a:ext>
            </a:extLst>
          </p:cNvPr>
          <p:cNvSpPr>
            <a:spLocks noGrp="1"/>
          </p:cNvSpPr>
          <p:nvPr/>
        </p:nvSpPr>
        <p:spPr>
          <a:xfrm>
            <a:off x="8191500" y="4667250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D9772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97728"/>
                </a:solidFill>
                <a:latin typeface="Bitstream Charter"/>
                <a:ea typeface="Bitstream Charter"/>
                <a:cs typeface="Bitstream Charter"/>
              </a:rPr>
              <a:t>Fold 1 was more difficult than the other four folds.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885BFC17-FF5E-4098-8E0F-BD30798015EF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Mohamed Elbadry, Mercedes-Benz Greener Manufacturing, 6</a:t>
            </a:r>
          </a:p>
        </p:txBody>
      </p:sp>
    </p:spTree>
    <p:extLst>
      <p:ext uri="{BB962C8B-B14F-4D97-AF65-F5344CB8AC3E}">
        <p14:creationId xmlns:p14="http://schemas.microsoft.com/office/powerpoint/2010/main" val="189436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752ECA24-365F-48F6-910A-CE2F78B7F774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Potential data product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xmlns="" id="{9EF70551-256D-4129-A269-41BE0E3F28C5}"/>
              </a:ext>
            </a:extLst>
          </p:cNvPr>
          <p:cNvSpPr>
            <a:spLocks noGrp="1"/>
          </p:cNvSpPr>
          <p:nvPr/>
        </p:nvSpPr>
        <p:spPr>
          <a:xfrm>
            <a:off x="904875" y="1333500"/>
            <a:ext cx="1028700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 planning assistant could estimate test duration before a vehicle enters the test bench.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BA7138F4-D5E4-44C2-852D-068D99660128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7FD1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7FD1DF"/>
                </a:solidFill>
                <a:latin typeface="Bitstream Charter"/>
                <a:ea typeface="Bitstream Charter"/>
                <a:cs typeface="Bitstream Charter"/>
              </a:rPr>
              <a:t>Input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AA069A81-EF69-4B41-9BC1-717E34BE7750}"/>
              </a:ext>
            </a:extLst>
          </p:cNvPr>
          <p:cNvSpPr>
            <a:spLocks noGrp="1"/>
          </p:cNvSpPr>
          <p:nvPr/>
        </p:nvSpPr>
        <p:spPr>
          <a:xfrm>
            <a:off x="904875" y="3619500"/>
            <a:ext cx="28575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Anonymised vehicle configuration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8800C32F-579D-4354-A033-96D015419B9E}"/>
              </a:ext>
            </a:extLst>
          </p:cNvPr>
          <p:cNvSpPr>
            <a:spLocks noGrp="1"/>
          </p:cNvSpPr>
          <p:nvPr/>
        </p:nvSpPr>
        <p:spPr>
          <a:xfrm>
            <a:off x="4667250" y="309562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7FD1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7FD1DF"/>
                </a:solidFill>
                <a:latin typeface="Bitstream Charter"/>
                <a:ea typeface="Bitstream Charter"/>
                <a:cs typeface="Bitstream Charter"/>
              </a:rPr>
              <a:t>Prediction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B6FA633A-F507-4B84-8C30-9CBB3FE9EC6A}"/>
              </a:ext>
            </a:extLst>
          </p:cNvPr>
          <p:cNvSpPr>
            <a:spLocks noGrp="1"/>
          </p:cNvSpPr>
          <p:nvPr/>
        </p:nvSpPr>
        <p:spPr>
          <a:xfrm>
            <a:off x="4667250" y="3619500"/>
            <a:ext cx="28575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Expected test-bench duration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27362B0E-700E-4606-A2DC-DF206A2C1713}"/>
              </a:ext>
            </a:extLst>
          </p:cNvPr>
          <p:cNvSpPr>
            <a:spLocks noGrp="1"/>
          </p:cNvSpPr>
          <p:nvPr/>
        </p:nvSpPr>
        <p:spPr>
          <a:xfrm>
            <a:off x="8429625" y="309562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75" b="1">
                <a:solidFill>
                  <a:srgbClr val="7FD1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7FD1DF"/>
                </a:solidFill>
                <a:latin typeface="Bitstream Charter"/>
                <a:ea typeface="Bitstream Charter"/>
                <a:cs typeface="Bitstream Charter"/>
              </a:rPr>
              <a:t>Decision support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FD1BBE35-F9AC-48DF-9165-CF1983C76268}"/>
              </a:ext>
            </a:extLst>
          </p:cNvPr>
          <p:cNvSpPr>
            <a:spLocks noGrp="1"/>
          </p:cNvSpPr>
          <p:nvPr/>
        </p:nvSpPr>
        <p:spPr>
          <a:xfrm>
            <a:off x="8429625" y="3619500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Capacity planning and review of unusually long tests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xmlns="" id="{283CC6EE-EB25-4EC3-B7E8-F77BB45B0E03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C8D5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C8D5E1"/>
                </a:solidFill>
                <a:latin typeface="Bitstream Charter"/>
                <a:ea typeface="Bitstream Charter"/>
                <a:cs typeface="Bitstream Charter"/>
              </a:rPr>
              <a:t>The tool should support engineers rather than make autonomous production decisions.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xmlns="" id="{D296ADD1-C014-4879-809E-F90C5BE6CEFB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>
                <a:solidFill>
                  <a:srgbClr val="C8D5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C8D5E1"/>
                </a:solidFill>
                <a:latin typeface="Bitstream Charter"/>
                <a:ea typeface="Bitstream Charter"/>
                <a:cs typeface="Bitstream Charter"/>
              </a:rPr>
              <a:t>Mohamed Elbadry, Mercedes-Benz Greener Manufacturing, 7</a:t>
            </a:r>
          </a:p>
        </p:txBody>
      </p:sp>
    </p:spTree>
    <p:extLst>
      <p:ext uri="{BB962C8B-B14F-4D97-AF65-F5344CB8AC3E}">
        <p14:creationId xmlns:p14="http://schemas.microsoft.com/office/powerpoint/2010/main" val="114700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xmlns="" id="{43E6CBFD-4B9D-45B7-B340-D80EA83FEBDA}"/>
              </a:ext>
            </a:extLst>
          </p:cNvPr>
          <p:cNvSpPr>
            <a:spLocks noGrp="1"/>
          </p:cNvSpPr>
          <p:nvPr/>
        </p:nvSpPr>
        <p:spPr>
          <a:xfrm>
            <a:off x="666750" y="34290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Next steps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xmlns="" id="{982ED762-121A-4931-8447-9246C97EA266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952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xmlns="" id="{A90630A4-F417-40AD-9183-89D96A2AA4AA}"/>
              </a:ext>
            </a:extLst>
          </p:cNvPr>
          <p:cNvSpPr>
            <a:spLocks noGrp="1"/>
          </p:cNvSpPr>
          <p:nvPr/>
        </p:nvSpPr>
        <p:spPr>
          <a:xfrm>
            <a:off x="2095500" y="1476375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Tune the best model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xmlns="" id="{6CAE8424-006C-4F06-B06F-0E249CABBD1A}"/>
              </a:ext>
            </a:extLst>
          </p:cNvPr>
          <p:cNvSpPr>
            <a:spLocks noGrp="1"/>
          </p:cNvSpPr>
          <p:nvPr/>
        </p:nvSpPr>
        <p:spPr>
          <a:xfrm>
            <a:off x="2095500" y="2000250"/>
            <a:ext cx="8096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Test a controlled set of Gradient Boosting parameters.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xmlns="" id="{518FF4C2-6AD9-423D-9288-BEEA2333260C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952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xmlns="" id="{FBFD9250-9D49-4965-BCB0-CA593984D8A2}"/>
              </a:ext>
            </a:extLst>
          </p:cNvPr>
          <p:cNvSpPr>
            <a:spLocks noGrp="1"/>
          </p:cNvSpPr>
          <p:nvPr/>
        </p:nvSpPr>
        <p:spPr>
          <a:xfrm>
            <a:off x="2095500" y="28575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Analyse prediction errors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446CD5FF-D125-4BF5-B1D2-12EEE468ABA9}"/>
              </a:ext>
            </a:extLst>
          </p:cNvPr>
          <p:cNvSpPr>
            <a:spLocks noGrp="1"/>
          </p:cNvSpPr>
          <p:nvPr/>
        </p:nvSpPr>
        <p:spPr>
          <a:xfrm>
            <a:off x="2095500" y="3381375"/>
            <a:ext cx="8572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Identify the configurations linked to the largest underpredictions and overpredictions.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448B4BEF-FE27-4213-A987-EE9C07AFA31B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952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2F9EB3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xmlns="" id="{4B5AF707-9EC9-4860-9302-FF0D60E7F194}"/>
              </a:ext>
            </a:extLst>
          </p:cNvPr>
          <p:cNvSpPr>
            <a:spLocks noGrp="1"/>
          </p:cNvSpPr>
          <p:nvPr/>
        </p:nvSpPr>
        <p:spPr>
          <a:xfrm>
            <a:off x="2095500" y="4333875"/>
            <a:ext cx="5524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B1F33"/>
                </a:solidFill>
                <a:latin typeface="Bitstream Charter"/>
                <a:ea typeface="Bitstream Charter"/>
                <a:cs typeface="Bitstream Charter"/>
              </a:rPr>
              <a:t>Prepare the final deliverables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xmlns="" id="{98CC3912-D13D-4D8A-BF6D-2F4319FADD35}"/>
              </a:ext>
            </a:extLst>
          </p:cNvPr>
          <p:cNvSpPr>
            <a:spLocks noGrp="1"/>
          </p:cNvSpPr>
          <p:nvPr/>
        </p:nvSpPr>
        <p:spPr>
          <a:xfrm>
            <a:off x="2095500" y="4857750"/>
            <a:ext cx="8572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Complete the technical notebook, final presentation and reproducible model output.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9D5168D9-277B-46AD-BDDE-2C4C16ACD1B5}"/>
              </a:ext>
            </a:extLst>
          </p:cNvPr>
          <p:cNvSpPr>
            <a:spLocks noGrp="1"/>
          </p:cNvSpPr>
          <p:nvPr/>
        </p:nvSpPr>
        <p:spPr>
          <a:xfrm>
            <a:off x="666750" y="6429375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Mohamed Elbadry, Mercedes-Benz Greener Manufacturing, 8</a:t>
            </a:r>
          </a:p>
        </p:txBody>
      </p:sp>
    </p:spTree>
    <p:extLst>
      <p:ext uri="{BB962C8B-B14F-4D97-AF65-F5344CB8AC3E}">
        <p14:creationId xmlns:p14="http://schemas.microsoft.com/office/powerpoint/2010/main" val="15313950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Office PowerPoint</Application>
  <DocSecurity>0</DocSecurity>
  <PresentationFormat>Benutzerdefiniert</PresentationFormat>
  <Paragraphs>78</Paragraphs>
  <Slides>8</Slides>
  <Notes>8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9" baseType="lpstr"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EMS-User</cp:lastModifiedBy>
  <cp:revision>1</cp:revision>
  <dcterms:created xsi:type="dcterms:W3CDTF">2026-09-10T12:55:16Z</dcterms:created>
  <dcterms:modified xsi:type="dcterms:W3CDTF">2026-09-10T14:00:56Z</dcterms:modified>
</cp:coreProperties>
</file>